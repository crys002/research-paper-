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34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0756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0" y="91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CHITKAR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943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Presentation of Industry Oriented Hands on Experience (CS-253)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32588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Mental Health Risk Detection Using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NLP-Based Deep Learning Models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828800" y="2926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Thakur 2210991108      Akshat Vashisht  2210991229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28800" y="3337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By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28800" y="3611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Ajay Kumar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4160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Chitkara University, Punjab</a:t>
            </a:r>
            <a:endParaRPr lang="en-US" sz="13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A64AB6E-3BF6-847C-A542-5E17783373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767" y="0"/>
            <a:ext cx="1382233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457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CHITKARA</a:t>
            </a:r>
            <a:endParaRPr lang="en-US" sz="900" dirty="0"/>
          </a:p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82296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 health disorders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such as depression, anxiety, and suicidal ideation affect over </a:t>
            </a:r>
            <a:r>
              <a:rPr lang="en-US" sz="14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970 million people</a:t>
            </a: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worldwide, yet most go undiagnosed and untreated.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2743200" cy="30175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508760"/>
            <a:ext cx="2743200" cy="4114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508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Gap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1965960"/>
            <a:ext cx="2560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76–85% of affected individuals in low-income countries receive no treatment. Median delay to diagnosis: 8–23 years.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00400" y="1508760"/>
            <a:ext cx="2743200" cy="30175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0" y="1508760"/>
            <a:ext cx="2743200" cy="4114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508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Opportunity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91840" y="1965960"/>
            <a:ext cx="2560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 like Reddit and ReachOut.com contain rich, naturalistic mental health language from at-risk individuals.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26480" y="1508760"/>
            <a:ext cx="2743200" cy="301752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26480" y="1508760"/>
            <a:ext cx="2743200" cy="4114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508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Solution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217920" y="1965960"/>
            <a:ext cx="256032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and transformer models can automate scalable, low-cost early risk detection from online text.</a:t>
            </a:r>
            <a:endParaRPr lang="en-US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954B6217-F4E3-E142-5FD8-E7994C805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767" y="45720"/>
            <a:ext cx="1382233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Survey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457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CHITKARA</a:t>
            </a:r>
            <a:endParaRPr lang="en-US" sz="900" dirty="0"/>
          </a:p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256032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7772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Lexicon &amp; Classical ML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74720" y="777240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Coppersmith et al. — Twitter-based mental health analysis using LIWC features + SVM/LR classifiers. CLPsych 2015 F1: 0.73–0.78.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4320" y="1307592"/>
            <a:ext cx="85953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1581912"/>
            <a:ext cx="256032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1581912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 / BiLSTM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1581912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Yates et al. — Hierarchical LSTM on Reddit. Orabi et al. — CNNs superior on short posts; BiLSTM superior on longer text.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74320" y="2112264"/>
            <a:ext cx="85953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386584"/>
            <a:ext cx="256032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386584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 &amp; RoBERTa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74720" y="2386584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Transformer pretraining from Devlin et al. and Liu et al. Consistently outperformed recurrent baselines on mental health benchmarks.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74320" y="2916936"/>
            <a:ext cx="85953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191256"/>
            <a:ext cx="256032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191256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MentalBERT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0" y="3191256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 et al. — Domain-specific BERT pretrained on 13 GB of Reddit mental health corpora. +2–7 F1 points over general BERT.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721608"/>
            <a:ext cx="85953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3995928"/>
            <a:ext cx="256032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" y="3995928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Gap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74720" y="3995928"/>
            <a:ext cx="5303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datasets, metrics, and splits prevent reliable cross-study comparison — this study addresses that gap.</a:t>
            </a:r>
            <a:endParaRPr lang="en-US" sz="1200" dirty="0"/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B4DA3C62-FF88-88D8-DE03-C6D9B1CAB2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767" y="109728"/>
            <a:ext cx="1382233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457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CHITKARA</a:t>
            </a:r>
            <a:endParaRPr lang="en-US" sz="900" dirty="0"/>
          </a:p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023360" cy="3977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4023360" cy="4114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77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CLPsych 2015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20240" y="1280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ReachOut.com forum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1773936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Posts: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920240" y="177393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1,146 annotated posts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26771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920240" y="226771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4-class triage → binary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276148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split: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0240" y="276148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 at-risk / 70% not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255264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length: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920240" y="325526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tokens/post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37490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920240" y="37490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posts, forum-specific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777240"/>
            <a:ext cx="4023360" cy="397764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846320" y="777240"/>
            <a:ext cx="4023360" cy="41148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77724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RSDD (Reddit)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029200" y="128016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92240" y="1280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Reddit (all subreddits)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029200" y="1773936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Posts: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1773936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18,400 sampled posts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029200" y="2267712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Labels: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492240" y="226771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User-level diagnosis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0" y="2761488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split: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492240" y="2761488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/ 50% balanced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29200" y="3255264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length: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492240" y="3255264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312 tokens/post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0" y="3749040"/>
            <a:ext cx="1463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Feature: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492240" y="374904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 posts, general topics</a:t>
            </a:r>
            <a:endParaRPr lang="en-US" sz="1200" dirty="0"/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3019D979-19B0-64D9-B279-7BEF8EF7EB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6047" y="91440"/>
            <a:ext cx="1382233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&amp; Models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457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CHITKARA</a:t>
            </a:r>
            <a:endParaRPr lang="en-US" sz="900" dirty="0"/>
          </a:p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NLP-based deep learning architectures evaluated under controlled, standardized conditions: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1463040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801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920240" y="128016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LSTM — captures forward &amp; backward sequential context in text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74320" y="1965960"/>
            <a:ext cx="1463040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1965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CNN-BiLSTM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920240" y="196596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architecture — CNN extracts local n-gram features; BiLSTM captures global context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2651760"/>
            <a:ext cx="1463040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4320" y="26517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920240" y="265176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Bidirectional transformer pretrained on general-domain corpora (Wikipedia + BookCorpus)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274320" y="3337560"/>
            <a:ext cx="1463040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3375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20240" y="333756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Robustly optimized BERT — dynamic masking, longer training; stronger downstream performance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274320" y="4023360"/>
            <a:ext cx="1463040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74320" y="40233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MentalBERT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920240" y="4023360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Domain-adapted BERT pretrained on 13 GB of Reddit mental health corpora</a:t>
            </a:r>
            <a:endParaRPr lang="en-US" sz="125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A0AA372B-E2FD-8805-E852-5F18E52C02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767" y="91440"/>
            <a:ext cx="1382233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Analysis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457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CHITKARA</a:t>
            </a:r>
            <a:endParaRPr lang="en-US" sz="900" dirty="0"/>
          </a:p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comparison across 5 metrics on both datasets (80/20 train-test split):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1645920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234440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920240" y="1234440"/>
            <a:ext cx="1143000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20240" y="123444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(CLP)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063240" y="1234440"/>
            <a:ext cx="1143000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63240" y="123444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(CLP)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206240" y="1234440"/>
            <a:ext cx="1143000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206240" y="123444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(RSDD)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49240" y="1234440"/>
            <a:ext cx="1143000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349240" y="123444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 (RSDD)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492240" y="1234440"/>
            <a:ext cx="1143000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92240" y="123444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 (RSDD)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635240" y="1234440"/>
            <a:ext cx="1143000" cy="384048"/>
          </a:xfrm>
          <a:prstGeom prst="rect">
            <a:avLst/>
          </a:prstGeom>
          <a:solidFill>
            <a:srgbClr val="CC00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35240" y="1234440"/>
            <a:ext cx="1143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(RSDD)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274320" y="1645920"/>
            <a:ext cx="164592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4320" y="16459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BiLSTM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920240" y="1645920"/>
            <a:ext cx="114300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920240" y="1645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0.794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063240" y="1645920"/>
            <a:ext cx="114300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063240" y="1645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0.801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206240" y="1645920"/>
            <a:ext cx="114300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06240" y="1645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0.821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349240" y="1645920"/>
            <a:ext cx="114300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349240" y="1645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0.834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92240" y="1645920"/>
            <a:ext cx="114300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492240" y="1645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0.829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635240" y="1645920"/>
            <a:ext cx="114300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635240" y="1645920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0.887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274320" y="2121408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2121408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CNN-BiLSTM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920240" y="2121408"/>
            <a:ext cx="1143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20240" y="212140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0.843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3063240" y="2121408"/>
            <a:ext cx="1143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63240" y="212140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0.856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206240" y="2121408"/>
            <a:ext cx="1143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06240" y="212140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0.847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5349240" y="2121408"/>
            <a:ext cx="1143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49240" y="212140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0.861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492240" y="2121408"/>
            <a:ext cx="1143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492240" y="212140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0.853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7635240" y="2121408"/>
            <a:ext cx="1143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635240" y="212140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0.902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274320" y="2596896"/>
            <a:ext cx="164592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74320" y="2596896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BERT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1920240" y="2596896"/>
            <a:ext cx="114300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920240" y="259689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0.821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063240" y="2596896"/>
            <a:ext cx="114300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063240" y="259689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0.832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206240" y="2596896"/>
            <a:ext cx="114300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06240" y="259689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0.862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5349240" y="2596896"/>
            <a:ext cx="114300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349240" y="259689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0.871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492240" y="2596896"/>
            <a:ext cx="114300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492240" y="259689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0.867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7635240" y="2596896"/>
            <a:ext cx="114300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635240" y="2596896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0.921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274320" y="3072384"/>
            <a:ext cx="164592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274320" y="307238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RoBERTa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1920240" y="3072384"/>
            <a:ext cx="1143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920240" y="307238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0.834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3063240" y="3072384"/>
            <a:ext cx="1143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063240" y="307238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0.848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4206240" y="3072384"/>
            <a:ext cx="1143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206240" y="307238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0.876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5349240" y="3072384"/>
            <a:ext cx="1143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349240" y="307238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0.889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6492240" y="3072384"/>
            <a:ext cx="1143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492240" y="307238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0.881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7635240" y="3072384"/>
            <a:ext cx="11430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635240" y="3072384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0.934</a:t>
            </a:r>
            <a:endParaRPr lang="en-US" sz="1100" dirty="0"/>
          </a:p>
        </p:txBody>
      </p:sp>
      <p:sp>
        <p:nvSpPr>
          <p:cNvPr id="77" name="Shape 75"/>
          <p:cNvSpPr/>
          <p:nvPr/>
        </p:nvSpPr>
        <p:spPr>
          <a:xfrm>
            <a:off x="274320" y="3547872"/>
            <a:ext cx="164592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274320" y="3547872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MentalBERT</a:t>
            </a:r>
            <a:endParaRPr lang="en-US" sz="1100" dirty="0"/>
          </a:p>
        </p:txBody>
      </p:sp>
      <p:sp>
        <p:nvSpPr>
          <p:cNvPr id="79" name="Shape 77"/>
          <p:cNvSpPr/>
          <p:nvPr/>
        </p:nvSpPr>
        <p:spPr>
          <a:xfrm>
            <a:off x="1920240" y="3547872"/>
            <a:ext cx="114300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1920240" y="354787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0.837</a:t>
            </a:r>
            <a:endParaRPr lang="en-US" sz="1100" dirty="0"/>
          </a:p>
        </p:txBody>
      </p:sp>
      <p:sp>
        <p:nvSpPr>
          <p:cNvPr id="81" name="Shape 79"/>
          <p:cNvSpPr/>
          <p:nvPr/>
        </p:nvSpPr>
        <p:spPr>
          <a:xfrm>
            <a:off x="3063240" y="3547872"/>
            <a:ext cx="114300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063240" y="354787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0.851</a:t>
            </a:r>
            <a:endParaRPr lang="en-US" sz="1100" dirty="0"/>
          </a:p>
        </p:txBody>
      </p:sp>
      <p:sp>
        <p:nvSpPr>
          <p:cNvPr id="83" name="Shape 81"/>
          <p:cNvSpPr/>
          <p:nvPr/>
        </p:nvSpPr>
        <p:spPr>
          <a:xfrm>
            <a:off x="4206240" y="3547872"/>
            <a:ext cx="114300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206240" y="354787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0.891 ★</a:t>
            </a:r>
            <a:endParaRPr lang="en-US" sz="1100" dirty="0"/>
          </a:p>
        </p:txBody>
      </p:sp>
      <p:sp>
        <p:nvSpPr>
          <p:cNvPr id="85" name="Shape 83"/>
          <p:cNvSpPr/>
          <p:nvPr/>
        </p:nvSpPr>
        <p:spPr>
          <a:xfrm>
            <a:off x="5349240" y="3547872"/>
            <a:ext cx="114300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349240" y="354787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0.912 ★</a:t>
            </a:r>
            <a:endParaRPr lang="en-US" sz="1100" dirty="0"/>
          </a:p>
        </p:txBody>
      </p:sp>
      <p:sp>
        <p:nvSpPr>
          <p:cNvPr id="87" name="Shape 85"/>
          <p:cNvSpPr/>
          <p:nvPr/>
        </p:nvSpPr>
        <p:spPr>
          <a:xfrm>
            <a:off x="6492240" y="3547872"/>
            <a:ext cx="114300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492240" y="354787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0.894</a:t>
            </a:r>
            <a:endParaRPr lang="en-US" sz="1100" dirty="0"/>
          </a:p>
        </p:txBody>
      </p:sp>
      <p:sp>
        <p:nvSpPr>
          <p:cNvPr id="89" name="Shape 87"/>
          <p:cNvSpPr/>
          <p:nvPr/>
        </p:nvSpPr>
        <p:spPr>
          <a:xfrm>
            <a:off x="7635240" y="3547872"/>
            <a:ext cx="1143000" cy="457200"/>
          </a:xfrm>
          <a:prstGeom prst="rect">
            <a:avLst/>
          </a:prstGeom>
          <a:solidFill>
            <a:srgbClr val="F5F5F5"/>
          </a:solidFill>
          <a:ln w="6350">
            <a:solidFill>
              <a:srgbClr val="DDDDDD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635240" y="3547872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0.947 ★</a:t>
            </a:r>
            <a:endParaRPr lang="en-US" sz="1100" dirty="0"/>
          </a:p>
        </p:txBody>
      </p:sp>
      <p:sp>
        <p:nvSpPr>
          <p:cNvPr id="91" name="Text 89"/>
          <p:cNvSpPr/>
          <p:nvPr/>
        </p:nvSpPr>
        <p:spPr>
          <a:xfrm>
            <a:off x="274320" y="425196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Best performance  |  CLP = CLPsych 2015  |  RSDD = Reddit Self-Reported Depression Diagnosis</a:t>
            </a:r>
            <a:endParaRPr lang="en-US" sz="1000" dirty="0"/>
          </a:p>
        </p:txBody>
      </p:sp>
      <p:pic>
        <p:nvPicPr>
          <p:cNvPr id="92" name="Picture 91">
            <a:extLst>
              <a:ext uri="{FF2B5EF4-FFF2-40B4-BE49-F238E27FC236}">
                <a16:creationId xmlns:a16="http://schemas.microsoft.com/office/drawing/2014/main" id="{D768F84D-4ED8-AD20-80F5-8BA2834B8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767" y="82296"/>
            <a:ext cx="1382233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457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CHITKARA</a:t>
            </a:r>
            <a:endParaRPr lang="en-US" sz="900" dirty="0"/>
          </a:p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411480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777240"/>
            <a:ext cx="594360" cy="1828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777240"/>
            <a:ext cx="594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60120" y="9144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Pretraining Wins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307592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MentalBERT achieved F1 of 0.891 and Recall of 0.912 on RSDD — best overall, confirming domain-specific pretraining advantage.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754880" y="777240"/>
            <a:ext cx="411480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777240"/>
            <a:ext cx="594360" cy="1828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777240"/>
            <a:ext cx="594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40680" y="91440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Matches Task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40680" y="1307592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CNN-BiLSTM led on CLPsych (F1: 0.843) — short posts benefit from local n-gram extraction over pure sequential modeling.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" y="2788920"/>
            <a:ext cx="411480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74320" y="2788920"/>
            <a:ext cx="594360" cy="1828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2788920"/>
            <a:ext cx="594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60120" y="29260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as Priority Metric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319272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prioritized as key metric due to asymmetric cost of false negatives — missing at-risk individuals has higher clinical cost.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754880" y="2788920"/>
            <a:ext cx="4114800" cy="1828800"/>
          </a:xfrm>
          <a:prstGeom prst="rect">
            <a:avLst/>
          </a:prstGeom>
          <a:solidFill>
            <a:srgbClr val="F5F5F5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54880" y="2788920"/>
            <a:ext cx="594360" cy="1828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2788920"/>
            <a:ext cx="5943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5440680" y="29260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C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Character Matters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40680" y="3319272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Longer, noisier RSDD posts better simulate real-world conditions than forum-specific CLPsych, making results more generalizable.</a:t>
            </a:r>
            <a:endParaRPr lang="en-US" sz="1150" dirty="0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0BECA05-D699-C24F-11E2-7F36146429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767" y="68580"/>
            <a:ext cx="1382233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-9144"/>
            <a:ext cx="91440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457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CHITKARA</a:t>
            </a:r>
            <a:endParaRPr lang="en-US" sz="900" dirty="0"/>
          </a:p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65760" y="77724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presents a controlled comparison of five NLP deep learning architectures for early mental health risk detection.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274320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17320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MentalBERT achieves state-of-the-art performance (F1: 0.891, Recall: 0.912) on RSDD — domain-specific pretraining is a decisive advantage.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4320" y="2212848"/>
            <a:ext cx="274320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2212848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Architectural choice must align with deployment context: CNN-BiLSTM is optimal for short posts; transformers excel on longer text.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274320" y="3008376"/>
            <a:ext cx="274320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008376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is the clinically essential metric — missing at-risk individuals is far costlier than false alarms in real-world systems.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274320" y="3803904"/>
            <a:ext cx="274320" cy="50292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803904"/>
            <a:ext cx="8138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work: multimodal fusion (text + behavioral signals), temporal modeling of posting history, and real-time deployment pipelines.</a:t>
            </a:r>
            <a:endParaRPr lang="en-US" sz="125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DE21F33-A1E4-9115-DF0B-0D8EC196C2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767" y="82454"/>
            <a:ext cx="1382233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0" y="4572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CHITKARA</a:t>
            </a:r>
            <a:endParaRPr lang="en-US" sz="900" dirty="0"/>
          </a:p>
          <a:p>
            <a:pPr marL="0" indent="0" algn="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World Health Organization (2022). World Mental Health Report. WHO Press.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320040" y="1152144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Wang et al. (2007). Use of mental health services for anxiety, mood, and substance disorders. The Lancet, 370(9590).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20040" y="155448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Coppersmith et al. (2014). Quantifying mental health signals in Twitter. CLPsych Workshop, ACL.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1956816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Devlin et al. (2019). BERT: Pre-training of Deep Bidirectional Transformers. NAACL-HLT.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20040" y="235915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Calvo et al. (2017). Natural language processing in mental health applications. NPL Engineering.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20040" y="2761488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Milne et al. (2016). CLPsych 2016 Shared Task: Triaging content in online peer-support forums. CLPsych.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20040" y="3163824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Yates et al. (2017). Depression and self-harm risk assessment in online forums. EMNLP.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20040" y="3566160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Orabi et al. (2018). Deep learning for depression detection of Twitter users. CLPsych.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20040" y="3968496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Ji et al. (2022). MentalBERT: Publicly available pretrained language models for mental healthcare. LREC.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20040" y="4370832"/>
            <a:ext cx="8503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Liu et al. (2019). RoBERTa: A robustly optimized BERT pretraining approach. arXiv:1907.11692.</a:t>
            </a:r>
            <a:endParaRPr lang="en-US" sz="1050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154B5273-5BAF-FE2C-46E9-10D8CAD8C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1767" y="109728"/>
            <a:ext cx="1382233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37760"/>
            <a:ext cx="9144000" cy="205740"/>
          </a:xfrm>
          <a:prstGeom prst="rect">
            <a:avLst/>
          </a:prstGeom>
          <a:solidFill>
            <a:srgbClr val="CC0000"/>
          </a:solidFill>
          <a:ln w="12700">
            <a:solidFill>
              <a:srgbClr val="CC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0" y="914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CHITKARA UNIVERSITY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4630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37490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Aakash Thakur | 2210991108          Akshat Vashisht  |  2210991229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CSE, Chitkara University, Punjab</a:t>
            </a:r>
            <a:endParaRPr lang="en-US" sz="13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8B31586-8320-D09D-BE1E-DA73F6BFC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02132" y="11181"/>
            <a:ext cx="1267548" cy="41926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999</Words>
  <Application>Microsoft Office PowerPoint</Application>
  <PresentationFormat>On-screen Show (16:9)</PresentationFormat>
  <Paragraphs>173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Early Mental Health Risk Detection Using NLP-Based Deep Learning Models</dc:title>
  <dc:subject>PptxGenJS Presentation</dc:subject>
  <dc:creator>PptxGenJS</dc:creator>
  <cp:lastModifiedBy>Aakash Thakur</cp:lastModifiedBy>
  <cp:revision>3</cp:revision>
  <dcterms:created xsi:type="dcterms:W3CDTF">2026-03-23T04:17:34Z</dcterms:created>
  <dcterms:modified xsi:type="dcterms:W3CDTF">2026-04-26T07:38:53Z</dcterms:modified>
</cp:coreProperties>
</file>